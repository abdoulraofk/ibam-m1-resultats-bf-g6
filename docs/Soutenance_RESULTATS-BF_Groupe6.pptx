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8c3bde4d-b4fc-e1b9-13f1-fb262c720efb}">
          <p14:sldIdLst>
            <p14:sldId id="256"/>
          </p14:sldIdLst>
        </p14:section>
        <p14:section name="Le problème" id="{68f88d17-4b27-c48d-4dd4-7f70df571f15}">
          <p14:sldIdLst>
            <p14:sldId id="257"/>
          </p14:sldIdLst>
        </p14:section>
        <p14:section name="Architecture" id="{2e8a3559-d563-ef5f-58fd-9bb6d728f452}">
          <p14:sldIdLst>
            <p14:sldId id="258"/>
            <p14:sldId id="259"/>
            <p14:sldId id="260"/>
          </p14:sldIdLst>
        </p14:section>
        <p14:section name="Résilience" id="{f1f0c292-59f6-8bc0-2855-dd60b064330a}">
          <p14:sldIdLst>
            <p14:sldId id="261"/>
          </p14:sldIdLst>
        </p14:section>
        <p14:section name="Résultats" id="{6cffbfbb-8949-22fa-828e-3ba762d89d9c}">
          <p14:sldIdLst>
            <p14:sldId id="262"/>
            <p14:sldId id="263"/>
            <p14:sldId id="264"/>
            <p14:sldId id="265"/>
          </p14:sldIdLst>
        </p14:section>
        <p14:section name="Ce que nous avons appris" id="{556bd92f-e582-ace1-ecdf-e49aec7962e5}">
          <p14:sldIdLst>
            <p14:sldId id="266"/>
            <p14:sldId id="267"/>
          </p14:sldIdLst>
        </p14:section>
        <p14:section name="Démonstration" id="{c6b5f296-1618-ab85-5d59-c5599b523fc5}">
          <p14:sldIdLst>
            <p14:sldId id="268"/>
            <p14:sldId id="269"/>
          </p14:sldIdLst>
        </p14:section>
        <p14:section name="Clôture" id="{d94b6dc0-23d3-4bc1-c866-5cdfba1141ec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projet RÉSULTATS-BF par le groupe 6. Annoncer le plan : le problème, l'architecture, les résultats mesurés, la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sujet : ce n'est pas un exercice de programmation. L'application est minuscule. Ce qui est évalué, c'est l'infrastructure autour d'elle.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 chemin d'une requête : navigateur, lb1, un serveur applicatif choisi en tourniquet, bdd1. En parallèle : réplication vers bdd2, métriques vers 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cœur de R3. Sans cette table unique, scalable n'est qu'un mot, et le barème retire deux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R4 pour le serveur applicatif, R5 et R6 pour la base, E1 pour le répartiteur.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scénarios V2, V3 et V4 seront exécutés en direct pendant la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premier chiffre n'était pas faux : il mesurait autre chose que ce que nous croyions. C'est en l'expliquant que nous avons corrigé l'infrastructure.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 scripts se sont comportés à l'identique sur les deux postes : mêmes étapes, mêmes messages, reprises automatiques d'apt-get update comprises.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0F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 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9BDCEC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9BDCEC"/>
                </a:solidFill>
              </a:rPr>
              <a:t> 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80160" y="2743200"/>
            <a:ext cx="9601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 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280160" y="393192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9BDCEC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9BDCEC"/>
                </a:solidFill>
              </a:rPr>
              <a:t>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8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F3B4C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0F3B4C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883"/>
                </a:solidFill>
              </a:rPr>
              <a:t>RÉSULTATS-BF — Groupe 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8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8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RK\AppData\Local\Temp\claude\c--Users-ARK-Documents-Cours-MASTER\e8b93751-e9d8-42c2-a7dc-339feb7f120e\scratchpad\logos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48640"/>
            <a:ext cx="914400" cy="914400"/>
          </a:xfrm>
          <a:prstGeom prst="rect">
            <a:avLst/>
          </a:prstGeom>
        </p:spPr>
      </p:pic>
      <p:pic>
        <p:nvPicPr>
          <p:cNvPr id="3" name="Image 1" descr="C:\Users\ARK\AppData\Local\Temp\claude\c--Users-ARK-Documents-Cours-MASTER\e8b93751-e9d8-42c2-a7dc-339feb7f120e\scratchpad\logos\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566928"/>
            <a:ext cx="1307592" cy="868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1691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DCEC"/>
                </a:solidFill>
              </a:rPr>
              <a:t>Université Joseph KI-ZERBO — Institut Burkinabè des Arts et Métiers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RÉSULTATS-BF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Une infrastructure résiliente et scalable, entièrement décrite en code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663B"/>
                </a:solidFill>
              </a:rPr>
              <a:t>Groupe 6</a:t>
            </a:r>
            <a:pPr indent="0" marL="0">
              <a:buNone/>
            </a:pPr>
            <a:r>
              <a:rPr lang="en-US" sz="1300" dirty="0">
                <a:solidFill>
                  <a:srgbClr val="9BDCEC"/>
                </a:solidFill>
              </a:rPr>
              <a:t>   SIMPORE Wend-Yam Lysias Eldad · OUEDRAOGO D. Adan Franck · KAGAMBEGA Hermann · NIKIEMA Shun Arion · KUELA Abdoul Raof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5029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883"/>
                </a:solidFill>
              </a:rPr>
              <a:t>M1 Informatique — Virtualisation et Cloud Computing — Dr SOMDA — 2026-2027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822960" y="37033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3B4C"/>
                </a:solidFill>
              </a:rPr>
              <a:t>Chaque année, le même incident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B33"/>
                </a:solidFill>
              </a:rPr>
              <a:t>Le site des résultats tombe dans les dix minutes qui suivent l'annonce. Rarement parce que le programme est mal écrit — presque toujours parce que son infrastructure n'a été pensée ni pour absorber un pic, ni pour survivre à la panne d'une seule machine.</a:t>
            </a:r>
            <a:endParaRPr lang="en-US" sz="1500" dirty="0"/>
          </a:p>
        </p:txBody>
      </p:sp>
      <p:sp>
        <p:nvSpPr>
          <p:cNvPr id="4" name="cause 0"/>
          <p:cNvSpPr/>
          <p:nvPr/>
        </p:nvSpPr>
        <p:spPr>
          <a:xfrm>
            <a:off x="685800" y="2743200"/>
            <a:ext cx="6492240" cy="960120"/>
          </a:xfrm>
          <a:prstGeom prst="roundRect">
            <a:avLst>
              <a:gd name="adj" fmla="val 9524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5" name="pastille 1"/>
          <p:cNvSpPr/>
          <p:nvPr/>
        </p:nvSpPr>
        <p:spPr>
          <a:xfrm>
            <a:off x="914400" y="2944368"/>
            <a:ext cx="566928" cy="566928"/>
          </a:xfrm>
          <a:prstGeom prst="ellipse">
            <a:avLst/>
          </a:prstGeom>
          <a:solidFill>
            <a:srgbClr val="EA663B"/>
          </a:solidFill>
          <a:ln w="12700">
            <a:solidFill>
              <a:srgbClr val="EA66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44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28712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4C"/>
                </a:solidFill>
              </a:rPr>
              <a:t>Un seul serveur applicatif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64208" y="3200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883"/>
                </a:solidFill>
              </a:rPr>
              <a:t>Il tombe, le service tombe avec lui</a:t>
            </a:r>
            <a:endParaRPr lang="en-US" sz="1200" dirty="0"/>
          </a:p>
        </p:txBody>
      </p:sp>
      <p:sp>
        <p:nvSpPr>
          <p:cNvPr id="9" name="cause 1"/>
          <p:cNvSpPr/>
          <p:nvPr/>
        </p:nvSpPr>
        <p:spPr>
          <a:xfrm>
            <a:off x="685800" y="3886200"/>
            <a:ext cx="6492240" cy="960120"/>
          </a:xfrm>
          <a:prstGeom prst="roundRect">
            <a:avLst>
              <a:gd name="adj" fmla="val 9524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10" name="pastille 2"/>
          <p:cNvSpPr/>
          <p:nvPr/>
        </p:nvSpPr>
        <p:spPr>
          <a:xfrm>
            <a:off x="914400" y="4087368"/>
            <a:ext cx="566928" cy="566928"/>
          </a:xfrm>
          <a:prstGeom prst="ellipse">
            <a:avLst/>
          </a:prstGeom>
          <a:solidFill>
            <a:srgbClr val="EA663B"/>
          </a:solidFill>
          <a:ln w="12700">
            <a:solidFill>
              <a:srgbClr val="EA66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64208" y="40142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4C"/>
                </a:solidFill>
              </a:rPr>
              <a:t>Une seule base de données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4343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883"/>
                </a:solidFill>
              </a:rPr>
              <a:t>Aucune reprise possible, aucune réplique</a:t>
            </a:r>
            <a:endParaRPr lang="en-US" sz="1200" dirty="0"/>
          </a:p>
        </p:txBody>
      </p:sp>
      <p:sp>
        <p:nvSpPr>
          <p:cNvPr id="14" name="cause 2"/>
          <p:cNvSpPr/>
          <p:nvPr/>
        </p:nvSpPr>
        <p:spPr>
          <a:xfrm>
            <a:off x="685800" y="5029200"/>
            <a:ext cx="6492240" cy="960120"/>
          </a:xfrm>
          <a:prstGeom prst="roundRect">
            <a:avLst>
              <a:gd name="adj" fmla="val 9524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15" name="pastille 3"/>
          <p:cNvSpPr/>
          <p:nvPr/>
        </p:nvSpPr>
        <p:spPr>
          <a:xfrm>
            <a:off x="914400" y="5230368"/>
            <a:ext cx="566928" cy="566928"/>
          </a:xfrm>
          <a:prstGeom prst="ellipse">
            <a:avLst/>
          </a:prstGeom>
          <a:solidFill>
            <a:srgbClr val="EA663B"/>
          </a:solidFill>
          <a:ln w="12700">
            <a:solidFill>
              <a:srgbClr val="EA66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5230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64208" y="51572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4C"/>
                </a:solidFill>
              </a:rPr>
              <a:t>Une configuration faite à la main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64208" y="5486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883"/>
                </a:solidFill>
              </a:rPr>
              <a:t>Impossible à reconstruire à l'identique</a:t>
            </a:r>
            <a:endParaRPr lang="en-US" sz="1200" dirty="0"/>
          </a:p>
        </p:txBody>
      </p:sp>
      <p:sp>
        <p:nvSpPr>
          <p:cNvPr id="19" name="mandat"/>
          <p:cNvSpPr/>
          <p:nvPr/>
        </p:nvSpPr>
        <p:spPr>
          <a:xfrm>
            <a:off x="7589520" y="1325880"/>
            <a:ext cx="3931920" cy="4663440"/>
          </a:xfrm>
          <a:prstGeom prst="roundRect">
            <a:avLst>
              <a:gd name="adj" fmla="val 2326"/>
            </a:avLst>
          </a:prstGeom>
          <a:solidFill>
            <a:srgbClr val="0F3B4C"/>
          </a:solidFill>
          <a:ln w="12700">
            <a:solidFill>
              <a:srgbClr val="0F3B4C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9095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663B"/>
                </a:solidFill>
              </a:rPr>
              <a:t>Notre mandat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Construire la plateforme qui permet à un candidat de consulter son résultat à partir de son matricule.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DCEC"/>
                </a:solidFill>
              </a:rPr>
              <a:t>Deux exigences priment sur tout le reste :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3520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B5D9"/>
                </a:solidFill>
              </a:rPr>
              <a:t>Résilience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383133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la panne d'une machine n'interrompt pas le service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4663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B5D9"/>
                </a:solidFill>
              </a:rPr>
              <a:t>Scalabilité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497433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absorber plus de trafic = ajouter des machines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8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80160" y="2743200"/>
            <a:ext cx="960120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L'architecture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280160" y="393192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9BDCEC"/>
                </a:solidFill>
              </a:rPr>
              <a:t>Six machines, un réseau privé, une seule source de vérité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8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3B4C"/>
                </a:solidFill>
              </a:rPr>
              <a:t>Du navigateur à la base, tout passe par le réseau privé</a:t>
            </a:r>
            <a:endParaRPr lang="en-US" sz="3200" dirty="0"/>
          </a:p>
        </p:txBody>
      </p:sp>
      <p:pic>
        <p:nvPicPr>
          <p:cNvPr id="3" name="Image 0" descr="C:\Users\ARK\Documents\Cours MASTER\Virtualisation\Projet de groupe\ibam-m1-resultats-bf-g6\docs\schema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434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883"/>
                </a:solidFill>
              </a:rPr>
              <a:t>Seul le répartiteur lb1 expose un port vers l'hôte (8080 → 80). Base de données, métriques, réplication et supervision ne quittent jamais 192.168.61.0/24.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8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3B4C"/>
                </a:solidFill>
              </a:rPr>
              <a:t>Une seule source de vérité pour toute la plateforme</a:t>
            </a:r>
            <a:endParaRPr lang="en-US" sz="3200" dirty="0"/>
          </a:p>
        </p:txBody>
      </p:sp>
      <p:sp>
        <p:nvSpPr>
          <p:cNvPr id="3" name="code"/>
          <p:cNvSpPr/>
          <p:nvPr/>
        </p:nvSpPr>
        <p:spPr>
          <a:xfrm>
            <a:off x="685800" y="137160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663B"/>
                </a:solidFill>
              </a:rPr>
              <a:t>Vagrantfile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938528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B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NOEUDS &lt;&lt; { nom: "bdd1", ip: "#{RESEAU}.31",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3B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mem: 768, role: "bdd"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3B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(1..NB_APP).each do |i|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3B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NOEUDS &lt;&lt; { nom: "app#{i}",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3B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ip: "#{RESEAU}.#{20 + i}", role: "app"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3B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100" dirty="0"/>
          </a:p>
        </p:txBody>
      </p:sp>
      <p:sp>
        <p:nvSpPr>
          <p:cNvPr id="6" name="pastille ↓"/>
          <p:cNvSpPr/>
          <p:nvPr/>
        </p:nvSpPr>
        <p:spPr>
          <a:xfrm>
            <a:off x="6263640" y="1463040"/>
            <a:ext cx="566928" cy="566928"/>
          </a:xfrm>
          <a:prstGeom prst="ellipse">
            <a:avLst/>
          </a:prstGeom>
          <a:solidFill>
            <a:srgbClr val="42B5D9"/>
          </a:solidFill>
          <a:ln w="12700">
            <a:solidFill>
              <a:srgbClr val="42B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6364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↓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99516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4C"/>
                </a:solidFill>
              </a:rPr>
              <a:t>config/noeuds.yml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883"/>
                </a:solidFill>
              </a:rPr>
              <a:t>engendré à chaque commande Vagrant</a:t>
            </a:r>
            <a:endParaRPr lang="en-US" sz="1200" dirty="0"/>
          </a:p>
        </p:txBody>
      </p:sp>
      <p:sp>
        <p:nvSpPr>
          <p:cNvPr id="10" name="pastille ↓"/>
          <p:cNvSpPr/>
          <p:nvPr/>
        </p:nvSpPr>
        <p:spPr>
          <a:xfrm>
            <a:off x="6263640" y="2267712"/>
            <a:ext cx="566928" cy="566928"/>
          </a:xfrm>
          <a:prstGeom prst="ellipse">
            <a:avLst/>
          </a:prstGeom>
          <a:solidFill>
            <a:srgbClr val="42B5D9"/>
          </a:solidFill>
          <a:ln w="12700">
            <a:solidFill>
              <a:srgbClr val="42B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221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4C"/>
                </a:solidFill>
              </a:rPr>
              <a:t>Configuration HAProxy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542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883"/>
                </a:solidFill>
              </a:rPr>
              <a:t>engendrée depuis le même fichier</a:t>
            </a:r>
            <a:endParaRPr lang="en-US" sz="1200" dirty="0"/>
          </a:p>
        </p:txBody>
      </p:sp>
      <p:sp>
        <p:nvSpPr>
          <p:cNvPr id="14" name="pastille ↓"/>
          <p:cNvSpPr/>
          <p:nvPr/>
        </p:nvSpPr>
        <p:spPr>
          <a:xfrm>
            <a:off x="6263640" y="3072384"/>
            <a:ext cx="566928" cy="566928"/>
          </a:xfrm>
          <a:prstGeom prst="ellipse">
            <a:avLst/>
          </a:prstGeom>
          <a:solidFill>
            <a:srgbClr val="42B5D9"/>
          </a:solidFill>
          <a:ln w="12700">
            <a:solidFill>
              <a:srgbClr val="42B5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3072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30266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4C"/>
                </a:solidFill>
              </a:rPr>
              <a:t>Scripts de provisionnement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33467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883"/>
                </a:solidFill>
              </a:rPr>
              <a:t>lisent les adresses, n'en inventent aucune</a:t>
            </a:r>
            <a:endParaRPr lang="en-US" sz="1200" dirty="0"/>
          </a:p>
        </p:txBody>
      </p:sp>
      <p:sp>
        <p:nvSpPr>
          <p:cNvPr id="18" name="consequence"/>
          <p:cNvSpPr/>
          <p:nvPr/>
        </p:nvSpPr>
        <p:spPr>
          <a:xfrm>
            <a:off x="685800" y="3977640"/>
            <a:ext cx="10853928" cy="1691640"/>
          </a:xfrm>
          <a:prstGeom prst="roundRect">
            <a:avLst>
              <a:gd name="adj" fmla="val 5405"/>
            </a:avLst>
          </a:prstGeom>
          <a:solidFill>
            <a:srgbClr val="0F3B4C"/>
          </a:solidFill>
          <a:ln w="12700">
            <a:solidFill>
              <a:srgbClr val="0F3B4C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0584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663B"/>
                </a:solidFill>
              </a:rPr>
              <a:t>Conséquence directe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57200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Passer de 2 à 4 serveurs ne demande que </a:t>
            </a:r>
            <a:pPr indent="0" marL="0">
              <a:buNone/>
            </a:pPr>
            <a:r>
              <a:rPr lang="en-US" sz="1500" b="1" dirty="0">
                <a:solidFill>
                  <a:srgbClr val="42B5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NB_APP=4 vagrant up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. Aucune adresse n'est écrite en dur, nulle part : la configuration du répartiteur suit toute seule.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8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3B4C"/>
                </a:solidFill>
              </a:rPr>
              <a:t>Supprimer les points de défaillance unique, un par un</a:t>
            </a:r>
            <a:endParaRPr lang="en-US" sz="3200" dirty="0"/>
          </a:p>
        </p:txBody>
      </p:sp>
      <p:sp>
        <p:nvSpPr>
          <p:cNvPr id="3" name="couche 0"/>
          <p:cNvSpPr/>
          <p:nvPr/>
        </p:nvSpPr>
        <p:spPr>
          <a:xfrm>
            <a:off x="685800" y="137160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4" name="pastille 1"/>
          <p:cNvSpPr/>
          <p:nvPr/>
        </p:nvSpPr>
        <p:spPr>
          <a:xfrm>
            <a:off x="960120" y="1627632"/>
            <a:ext cx="566928" cy="566928"/>
          </a:xfrm>
          <a:prstGeom prst="ellipse">
            <a:avLst/>
          </a:prstGeom>
          <a:solidFill>
            <a:srgbClr val="42B5D9"/>
          </a:solidFill>
          <a:ln w="12700">
            <a:solidFill>
              <a:srgbClr val="42B5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B4C"/>
                </a:solidFill>
              </a:rPr>
              <a:t>Serveur applicatif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88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HAProxy interroge GET /sante chaque seconde. Deux échecs : le serveur est écarté. Une requête restée sans réponse est rejouée ailleurs.</a:t>
            </a:r>
            <a:endParaRPr lang="en-US" sz="1200" dirty="0"/>
          </a:p>
        </p:txBody>
      </p:sp>
      <p:sp>
        <p:nvSpPr>
          <p:cNvPr id="8" name="couche 1"/>
          <p:cNvSpPr/>
          <p:nvPr/>
        </p:nvSpPr>
        <p:spPr>
          <a:xfrm>
            <a:off x="4398264" y="137160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9" name="pastille 2"/>
          <p:cNvSpPr/>
          <p:nvPr/>
        </p:nvSpPr>
        <p:spPr>
          <a:xfrm>
            <a:off x="4672584" y="1627632"/>
            <a:ext cx="566928" cy="566928"/>
          </a:xfrm>
          <a:prstGeom prst="ellipse">
            <a:avLst/>
          </a:prstGeom>
          <a:solidFill>
            <a:srgbClr val="EA663B"/>
          </a:solidFill>
          <a:ln w="12700">
            <a:solidFill>
              <a:srgbClr val="EA66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72584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72584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B4C"/>
                </a:solidFill>
              </a:rPr>
              <a:t>Base de données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72584" y="2788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bdd2 réplique bdd1 en flux. En cas de panne, scripts/bascule.sh promeut bdd2 et redirige les serveurs sans les redémarrer.</a:t>
            </a:r>
            <a:endParaRPr lang="en-US" sz="1200" dirty="0"/>
          </a:p>
        </p:txBody>
      </p:sp>
      <p:sp>
        <p:nvSpPr>
          <p:cNvPr id="13" name="couche 2"/>
          <p:cNvSpPr/>
          <p:nvPr/>
        </p:nvSpPr>
        <p:spPr>
          <a:xfrm>
            <a:off x="8110728" y="137160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14" name="pastille 3"/>
          <p:cNvSpPr/>
          <p:nvPr/>
        </p:nvSpPr>
        <p:spPr>
          <a:xfrm>
            <a:off x="8385048" y="1627632"/>
            <a:ext cx="566928" cy="566928"/>
          </a:xfrm>
          <a:prstGeom prst="ellipse">
            <a:avLst/>
          </a:prstGeom>
          <a:solidFill>
            <a:srgbClr val="42B5D9"/>
          </a:solidFill>
          <a:ln w="12700">
            <a:solidFill>
              <a:srgbClr val="42B5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5048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85048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B4C"/>
                </a:solidFill>
              </a:rPr>
              <a:t>Répartiteur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85048" y="2788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Extension E1 : keepalived porte une IP virtuelle. Si lb1 tombe, lb2 la reprend à la même adresse.</a:t>
            </a:r>
            <a:endParaRPr lang="en-US" sz="1200" dirty="0"/>
          </a:p>
        </p:txBody>
      </p:sp>
      <p:sp>
        <p:nvSpPr>
          <p:cNvPr id="18" name="jamais deux"/>
          <p:cNvSpPr/>
          <p:nvPr/>
        </p:nvSpPr>
        <p:spPr>
          <a:xfrm>
            <a:off x="685800" y="4434840"/>
            <a:ext cx="10853928" cy="1280160"/>
          </a:xfrm>
          <a:prstGeom prst="roundRect">
            <a:avLst>
              <a:gd name="adj" fmla="val 7143"/>
            </a:avLst>
          </a:prstGeom>
          <a:solidFill>
            <a:srgbClr val="FDF0EB"/>
          </a:solidFill>
          <a:ln w="12700">
            <a:solidFill>
              <a:srgbClr val="F7B49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0584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663B"/>
                </a:solidFill>
              </a:rPr>
              <a:t>Un garde-fou qui compte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9377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</a:rPr>
              <a:t>La bascule refuse de s'exécuter tant que bdd1 accepte encore des écritures : deux bases primaires divergeraient, et aucune réconciliation ne serait possible.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8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80160" y="2743200"/>
            <a:ext cx="960120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Ce que nous avons mesuré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280160" y="393192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9BDCEC"/>
                </a:solidFill>
              </a:rPr>
              <a:t>Chaque chiffre vient d'un fichier de sortie brute, horodaté et versionné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8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3B4C"/>
                </a:solidFill>
              </a:rPr>
              <a:t>Trois mesures sur machines virtuelles</a:t>
            </a:r>
            <a:endParaRPr lang="en-US" sz="3200" dirty="0"/>
          </a:p>
        </p:txBody>
      </p:sp>
      <p:sp>
        <p:nvSpPr>
          <p:cNvPr id="3" name="stat Reconstruction intégrale, plateforme conforme, sans une seule commande tapée à la main"/>
          <p:cNvSpPr/>
          <p:nvPr/>
        </p:nvSpPr>
        <p:spPr>
          <a:xfrm>
            <a:off x="685800" y="137160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6276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A663B"/>
                </a:solidFill>
              </a:rPr>
              <a:t>17</a:t>
            </a:r>
            <a:pPr algn="l" indent="0" marL="0">
              <a:buNone/>
            </a:pPr>
            <a:r>
              <a:rPr lang="en-US" sz="1700" b="1" dirty="0">
                <a:solidFill>
                  <a:srgbClr val="EA663B"/>
                </a:solidFill>
              </a:rPr>
              <a:t> min 38 s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9572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Reconstruction intégrale, plateforme conforme, sans une seule commande tapée à la main</a:t>
            </a:r>
            <a:endParaRPr lang="en-US" sz="1200" dirty="0"/>
          </a:p>
        </p:txBody>
      </p:sp>
      <p:sp>
        <p:nvSpPr>
          <p:cNvPr id="6" name="stat Interruption maximale quand le répartiteur tombe — 0 erreur sur 688 requêtes"/>
          <p:cNvSpPr/>
          <p:nvPr/>
        </p:nvSpPr>
        <p:spPr>
          <a:xfrm>
            <a:off x="4398264" y="137160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26864" y="16276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2B5D9"/>
                </a:solidFill>
              </a:rPr>
              <a:t>1,2</a:t>
            </a:r>
            <a:pPr algn="l" indent="0" marL="0">
              <a:buNone/>
            </a:pPr>
            <a:r>
              <a:rPr lang="en-US" sz="1700" b="1" dirty="0">
                <a:solidFill>
                  <a:srgbClr val="42B5D9"/>
                </a:solidFill>
              </a:rPr>
              <a:t> s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4626864" y="239572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Interruption maximale quand le répartiteur tombe — 0 erreur sur 688 requêtes</a:t>
            </a:r>
            <a:endParaRPr lang="en-US" sz="1200" dirty="0"/>
          </a:p>
        </p:txBody>
      </p:sp>
      <p:sp>
        <p:nvSpPr>
          <p:cNvPr id="9" name="stat Écart de répartition entre 4 serveurs applicatifs : 5 / 5 / 5 / 5"/>
          <p:cNvSpPr/>
          <p:nvPr/>
        </p:nvSpPr>
        <p:spPr>
          <a:xfrm>
            <a:off x="8110728" y="137160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39328" y="16276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A663B"/>
                </a:solidFill>
              </a:rPr>
              <a:t>0</a:t>
            </a:r>
            <a:pPr algn="l" indent="0" marL="0">
              <a:buNone/>
            </a:pPr>
            <a:r>
              <a:rPr lang="en-US" sz="1700" b="1" dirty="0">
                <a:solidFill>
                  <a:srgbClr val="EA663B"/>
                </a:solidFill>
              </a:rPr>
              <a:t> %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8339328" y="239572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Écart de répartition entre 4 serveurs applicatifs : 5 / 5 / 5 / 5</a:t>
            </a:r>
            <a:endParaRPr lang="en-US" sz="1200" dirty="0"/>
          </a:p>
        </p:txBody>
      </p:sp>
      <p:sp>
        <p:nvSpPr>
          <p:cNvPr id="12" name="methode"/>
          <p:cNvSpPr/>
          <p:nvPr/>
        </p:nvSpPr>
        <p:spPr>
          <a:xfrm>
            <a:off x="685800" y="3429000"/>
            <a:ext cx="10853928" cy="2240280"/>
          </a:xfrm>
          <a:prstGeom prst="roundRect">
            <a:avLst>
              <a:gd name="adj" fmla="val 4082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05840" y="36393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4C"/>
                </a:solidFill>
              </a:rPr>
              <a:t>Une mesure sans contexte ne vaut rien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0233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</a:rPr>
              <a:t>Chaque sortie d'essai commence par la commande exacte, la date, le poste, le nombre de serveurs et le commit du dépôt.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</a:rPr>
              <a:t>Les fichiers bruts sont versionnés dans essais/resultats/ : l'enseignant peut rejouer et comparer.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</a:rPr>
              <a:t>Un essai interrompu n'écrase jamais une mesure réussie ; il est compté à part.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8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3B4C"/>
                </a:solidFill>
              </a:rPr>
              <a:t>La mesure la plus utile du projet est celle qui était fausse</a:t>
            </a:r>
            <a:endParaRPr lang="en-US" sz="3200" dirty="0"/>
          </a:p>
        </p:txBody>
      </p:sp>
      <p:sp>
        <p:nvSpPr>
          <p:cNvPr id="3" name="avant"/>
          <p:cNvSpPr/>
          <p:nvPr/>
        </p:nvSpPr>
        <p:spPr>
          <a:xfrm>
            <a:off x="685800" y="137160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FDF0EB"/>
          </a:solidFill>
          <a:ln w="12700">
            <a:solidFill>
              <a:srgbClr val="F7B49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663B"/>
                </a:solidFill>
              </a:rPr>
              <a:t>Avant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920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663B"/>
                </a:solidFill>
              </a:rPr>
              <a:t>40 %</a:t>
            </a:r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</a:rPr>
              <a:t>  d'écart de répartition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420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883"/>
                </a:solidFill>
              </a:rPr>
              <a:t>6 / 5 / 5 / 4 puis 6 / 4 / 4 / 6 sur quatre serveurs</a:t>
            </a:r>
            <a:endParaRPr lang="en-US" sz="1200" dirty="0"/>
          </a:p>
        </p:txBody>
      </p:sp>
      <p:sp>
        <p:nvSpPr>
          <p:cNvPr id="7" name="apres"/>
          <p:cNvSpPr/>
          <p:nvPr/>
        </p:nvSpPr>
        <p:spPr>
          <a:xfrm>
            <a:off x="6327648" y="137160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EBF7FB"/>
          </a:solidFill>
          <a:ln w="12700">
            <a:solidFill>
              <a:srgbClr val="9BDC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01968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5D9"/>
                </a:solidFill>
              </a:rPr>
              <a:t>Après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1920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2B5D9"/>
                </a:solidFill>
              </a:rPr>
              <a:t>0 %</a:t>
            </a:r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</a:rPr>
              <a:t>  d'écart de répartition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601968" y="25420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883"/>
                </a:solidFill>
              </a:rPr>
              <a:t>5 / 5 / 5 / 5, deux essais consécutifs</a:t>
            </a:r>
            <a:endParaRPr lang="en-US" sz="1200" dirty="0"/>
          </a:p>
        </p:txBody>
      </p:sp>
      <p:sp>
        <p:nvSpPr>
          <p:cNvPr id="11" name="explication"/>
          <p:cNvSpPr/>
          <p:nvPr/>
        </p:nvSpPr>
        <p:spPr>
          <a:xfrm>
            <a:off x="685800" y="3520440"/>
            <a:ext cx="10853928" cy="2148840"/>
          </a:xfrm>
          <a:prstGeom prst="roundRect">
            <a:avLst>
              <a:gd name="adj" fmla="val 4255"/>
            </a:avLst>
          </a:prstGeom>
          <a:solidFill>
            <a:srgbClr val="0F3B4C"/>
          </a:solidFill>
          <a:ln w="12700">
            <a:solidFill>
              <a:srgbClr val="0F3B4C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0584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663B"/>
                </a:solidFill>
              </a:rPr>
              <a:t>Ce n'était pas le répartiteur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1148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La sonde de keepalived interrogeait /sante à travers le répartiteur : elle consommait un tour du tourniquet chaque seconde. Nos 20 appels se partageaient entre les quatre serveurs et la sonde.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9560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DCEC"/>
                </a:solidFill>
              </a:rPr>
              <a:t>Correction : </a:t>
            </a:r>
            <a:pPr indent="0" marL="0">
              <a:buNone/>
            </a:pPr>
            <a:r>
              <a:rPr lang="en-US" sz="1300" b="1" dirty="0">
                <a:solidFill>
                  <a:srgbClr val="42B5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monitor-uri /lb_sante</a:t>
            </a:r>
            <a:pPr indent="0" marL="0">
              <a:buNone/>
            </a:pPr>
            <a:r>
              <a:rPr lang="en-US" sz="1300" dirty="0">
                <a:solidFill>
                  <a:srgbClr val="9BDCEC"/>
                </a:solidFill>
              </a:rPr>
              <a:t>, une réponse servie par HAProxy lui-même, qui ne traverse plus les serveurs applicatifs.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8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3B4C"/>
                </a:solidFill>
              </a:rPr>
              <a:t>Voir ce qui se passe pendant une panne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B33"/>
                </a:solidFill>
              </a:rPr>
              <a:t>Extension E2 — Prometheus interroge toutes les machines toutes les cinq secondes ; Grafana montre en direct ce que les scénarios provoquent.</a:t>
            </a:r>
            <a:endParaRPr lang="en-US" sz="1500" dirty="0"/>
          </a:p>
        </p:txBody>
      </p:sp>
      <p:sp>
        <p:nvSpPr>
          <p:cNvPr id="4" name="vue 0"/>
          <p:cNvSpPr/>
          <p:nvPr/>
        </p:nvSpPr>
        <p:spPr>
          <a:xfrm>
            <a:off x="685800" y="201168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5" name="pastille •"/>
          <p:cNvSpPr/>
          <p:nvPr/>
        </p:nvSpPr>
        <p:spPr>
          <a:xfrm>
            <a:off x="960120" y="2267712"/>
            <a:ext cx="566928" cy="566928"/>
          </a:xfrm>
          <a:prstGeom prst="ellipse">
            <a:avLst/>
          </a:prstGeom>
          <a:solidFill>
            <a:srgbClr val="42B5D9"/>
          </a:solidFill>
          <a:ln w="12700">
            <a:solidFill>
              <a:srgbClr val="42B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•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494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4C"/>
                </a:solidFill>
              </a:rPr>
              <a:t>Pendant la montée en charge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63347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Le débit total monte, et se répartit entre les serveurs applicatifs</a:t>
            </a:r>
            <a:endParaRPr lang="en-US" sz="1200" dirty="0"/>
          </a:p>
        </p:txBody>
      </p:sp>
      <p:sp>
        <p:nvSpPr>
          <p:cNvPr id="9" name="vue 1"/>
          <p:cNvSpPr/>
          <p:nvPr/>
        </p:nvSpPr>
        <p:spPr>
          <a:xfrm>
            <a:off x="6227064" y="201168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10" name="pastille •"/>
          <p:cNvSpPr/>
          <p:nvPr/>
        </p:nvSpPr>
        <p:spPr>
          <a:xfrm>
            <a:off x="6501384" y="2267712"/>
            <a:ext cx="566928" cy="566928"/>
          </a:xfrm>
          <a:prstGeom prst="ellipse">
            <a:avLst/>
          </a:prstGeom>
          <a:solidFill>
            <a:srgbClr val="EA663B"/>
          </a:solidFill>
          <a:ln w="12700">
            <a:solidFill>
              <a:srgbClr val="EA66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1384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•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32904" y="22494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4C"/>
                </a:solidFill>
              </a:rPr>
              <a:t>Pendant la panne d'un serveur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32904" y="263347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« Serveurs en service » passe de 2 à 1 ; le débit du serveur arrêté tombe à zéro</a:t>
            </a:r>
            <a:endParaRPr lang="en-US" sz="1200" dirty="0"/>
          </a:p>
        </p:txBody>
      </p:sp>
      <p:sp>
        <p:nvSpPr>
          <p:cNvPr id="14" name="vue 2"/>
          <p:cNvSpPr/>
          <p:nvPr/>
        </p:nvSpPr>
        <p:spPr>
          <a:xfrm>
            <a:off x="685800" y="393192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15" name="pastille •"/>
          <p:cNvSpPr/>
          <p:nvPr/>
        </p:nvSpPr>
        <p:spPr>
          <a:xfrm>
            <a:off x="960120" y="4187952"/>
            <a:ext cx="566928" cy="566928"/>
          </a:xfrm>
          <a:prstGeom prst="ellipse">
            <a:avLst/>
          </a:prstGeom>
          <a:solidFill>
            <a:srgbClr val="42B5D9"/>
          </a:solidFill>
          <a:ln w="12700">
            <a:solidFill>
              <a:srgbClr val="42B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•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1696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4C"/>
                </a:solidFill>
              </a:rPr>
              <a:t>Sur chaque machine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55371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Processeur, mémoire, disque et réseau, par node_exporter sur le port 9100</a:t>
            </a:r>
            <a:endParaRPr lang="en-US" sz="1200" dirty="0"/>
          </a:p>
        </p:txBody>
      </p:sp>
      <p:sp>
        <p:nvSpPr>
          <p:cNvPr id="19" name="vue 3"/>
          <p:cNvSpPr/>
          <p:nvPr/>
        </p:nvSpPr>
        <p:spPr>
          <a:xfrm>
            <a:off x="6227064" y="393192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20" name="pastille •"/>
          <p:cNvSpPr/>
          <p:nvPr/>
        </p:nvSpPr>
        <p:spPr>
          <a:xfrm>
            <a:off x="6501384" y="4187952"/>
            <a:ext cx="566928" cy="566928"/>
          </a:xfrm>
          <a:prstGeom prst="ellipse">
            <a:avLst/>
          </a:prstGeom>
          <a:solidFill>
            <a:srgbClr val="EA663B"/>
          </a:solidFill>
          <a:ln w="12700">
            <a:solidFill>
              <a:srgbClr val="EA66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01384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32904" y="41696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4C"/>
                </a:solidFill>
              </a:rPr>
              <a:t>Sur le répartiteur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32904" y="455371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Réponses par code HTTP et nombre de serveurs actifs, exportés par HAProxy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883"/>
                </a:solidFill>
              </a:rPr>
              <a:t>Grafana est accessible sur le réseau privé, à l'adresse 192.168.61.41:3000 — aucun port supplémentaire n'est exposé vers l'hôte.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8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3B4C"/>
                </a:solidFill>
              </a:rPr>
              <a:t>La reproductibilité vérifiée sur trois postes</a:t>
            </a:r>
            <a:endParaRPr lang="en-US" sz="3200" dirty="0"/>
          </a:p>
        </p:txBody>
      </p:sp>
      <p:sp>
        <p:nvSpPr>
          <p:cNvPr id="3" name="posteA"/>
          <p:cNvSpPr/>
          <p:nvPr/>
        </p:nvSpPr>
        <p:spPr>
          <a:xfrm>
            <a:off x="685800" y="13716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5727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2B5D9"/>
                </a:solidFill>
              </a:rPr>
              <a:t>17 min 38 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</a:rPr>
              <a:t>Poste A — plateforme conforme, sans intervention</a:t>
            </a:r>
            <a:endParaRPr lang="en-US" sz="1300" dirty="0"/>
          </a:p>
        </p:txBody>
      </p:sp>
      <p:sp>
        <p:nvSpPr>
          <p:cNvPr id="6" name="posteB"/>
          <p:cNvSpPr/>
          <p:nvPr/>
        </p:nvSpPr>
        <p:spPr>
          <a:xfrm>
            <a:off x="6327648" y="13716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DF0EB"/>
          </a:solidFill>
          <a:ln w="12700">
            <a:solidFill>
              <a:srgbClr val="F7B49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601968" y="15727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663B"/>
                </a:solidFill>
              </a:rPr>
              <a:t>6 h 18</a:t>
            </a:r>
            <a:pPr indent="0" marL="0">
              <a:buNone/>
            </a:pPr>
            <a:r>
              <a:rPr lang="en-US" sz="1500" dirty="0">
                <a:solidFill>
                  <a:srgbClr val="1A2B33"/>
                </a:solidFill>
              </a:rPr>
              <a:t>  puis échec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601968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</a:rPr>
              <a:t>Poste B — même dépôt, même commande, deux échecs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71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4C"/>
                </a:solidFill>
              </a:rPr>
              <a:t>Trois facteurs, tous du côté de l'hôte :</a:t>
            </a:r>
            <a:endParaRPr lang="en-US" sz="1400" dirty="0"/>
          </a:p>
        </p:txBody>
      </p:sp>
      <p:sp>
        <p:nvSpPr>
          <p:cNvPr id="10" name="pastille 1"/>
          <p:cNvSpPr/>
          <p:nvPr/>
        </p:nvSpPr>
        <p:spPr>
          <a:xfrm>
            <a:off x="777240" y="3474720"/>
            <a:ext cx="566928" cy="566928"/>
          </a:xfrm>
          <a:prstGeom prst="ellipse">
            <a:avLst/>
          </a:prstGeom>
          <a:solidFill>
            <a:srgbClr val="5E7883"/>
          </a:solidFill>
          <a:ln w="12700">
            <a:solidFill>
              <a:srgbClr val="5E788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410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B4C"/>
                </a:solidFill>
              </a:rPr>
              <a:t>VirtualBox au-dessus de Hyper-V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41071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WSL 2 et Docker Desktop l'activent : VirtualBox passe en mode de compatibilité</a:t>
            </a:r>
            <a:endParaRPr lang="en-US" sz="1200" dirty="0"/>
          </a:p>
        </p:txBody>
      </p:sp>
      <p:sp>
        <p:nvSpPr>
          <p:cNvPr id="14" name="pastille 2"/>
          <p:cNvSpPr/>
          <p:nvPr/>
        </p:nvSpPr>
        <p:spPr>
          <a:xfrm>
            <a:off x="777240" y="4251960"/>
            <a:ext cx="566928" cy="566928"/>
          </a:xfrm>
          <a:prstGeom prst="ellipse">
            <a:avLst/>
          </a:prstGeom>
          <a:solidFill>
            <a:srgbClr val="5E7883"/>
          </a:solidFill>
          <a:ln w="12700">
            <a:solidFill>
              <a:srgbClr val="5E788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51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187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B4C"/>
                </a:solidFill>
              </a:rPr>
              <a:t>Mémoire réellement libre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418795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1,1 Go disponibles pour un socle qui en demande 3</a:t>
            </a:r>
            <a:endParaRPr lang="en-US" sz="1200" dirty="0"/>
          </a:p>
        </p:txBody>
      </p:sp>
      <p:sp>
        <p:nvSpPr>
          <p:cNvPr id="18" name="pastille 3"/>
          <p:cNvSpPr/>
          <p:nvPr/>
        </p:nvSpPr>
        <p:spPr>
          <a:xfrm>
            <a:off x="777240" y="5029200"/>
            <a:ext cx="566928" cy="566928"/>
          </a:xfrm>
          <a:prstGeom prst="ellipse">
            <a:avLst/>
          </a:prstGeom>
          <a:solidFill>
            <a:srgbClr val="5E7883"/>
          </a:solidFill>
          <a:ln w="12700">
            <a:solidFill>
              <a:srgbClr val="5E788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029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965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B4C"/>
                </a:solidFill>
              </a:rPr>
              <a:t>Lien réseau instable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496519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un partage de connexion mobile fait échouer le téléchargement des paquets</a:t>
            </a:r>
            <a:endParaRPr lang="en-US" sz="1200" dirty="0"/>
          </a:p>
        </p:txBody>
      </p:sp>
      <p:sp>
        <p:nvSpPr>
          <p:cNvPr id="22" name="lecon"/>
          <p:cNvSpPr/>
          <p:nvPr/>
        </p:nvSpPr>
        <p:spPr>
          <a:xfrm>
            <a:off x="685800" y="5559552"/>
            <a:ext cx="10853928" cy="566928"/>
          </a:xfrm>
          <a:prstGeom prst="roundRect">
            <a:avLst>
              <a:gd name="adj" fmla="val 16129"/>
            </a:avLst>
          </a:prstGeom>
          <a:solidFill>
            <a:srgbClr val="0F3B4C"/>
          </a:solidFill>
          <a:ln w="12700">
            <a:solidFill>
              <a:srgbClr val="0F3B4C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005840" y="5669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 code est reproductible ; l'expérience ne l'est pas. Un projet livré devrait déclarer ses prérequis d'hôte, pas seulement ses versions d'outils.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8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3B4C"/>
                </a:solidFill>
              </a:rPr>
              <a:t>Ce que nous ferions autrement</a:t>
            </a:r>
            <a:endParaRPr lang="en-US" sz="3200" dirty="0"/>
          </a:p>
        </p:txBody>
      </p:sp>
      <p:sp>
        <p:nvSpPr>
          <p:cNvPr id="3" name="limite 0"/>
          <p:cNvSpPr/>
          <p:nvPr/>
        </p:nvSpPr>
        <p:spPr>
          <a:xfrm>
            <a:off x="685800" y="1371600"/>
            <a:ext cx="10853928" cy="914400"/>
          </a:xfrm>
          <a:prstGeom prst="roundRect">
            <a:avLst>
              <a:gd name="adj" fmla="val 10000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4" name="pastille 1"/>
          <p:cNvSpPr/>
          <p:nvPr/>
        </p:nvSpPr>
        <p:spPr>
          <a:xfrm>
            <a:off x="960120" y="1545336"/>
            <a:ext cx="566928" cy="566928"/>
          </a:xfrm>
          <a:prstGeom prst="ellipse">
            <a:avLst/>
          </a:prstGeom>
          <a:solidFill>
            <a:srgbClr val="EA663B"/>
          </a:solidFill>
          <a:ln w="12700">
            <a:solidFill>
              <a:srgbClr val="EA66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545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48132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4C"/>
                </a:solidFill>
              </a:rPr>
              <a:t>Bascule déclenchée à la main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48132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3"/>
                </a:solidFill>
              </a:rPr>
              <a:t>Déclenchement automatique, avec un témoin extérieur pour éviter la double promotion</a:t>
            </a:r>
            <a:endParaRPr lang="en-US" sz="1250" dirty="0"/>
          </a:p>
        </p:txBody>
      </p:sp>
      <p:sp>
        <p:nvSpPr>
          <p:cNvPr id="8" name="limite 1"/>
          <p:cNvSpPr/>
          <p:nvPr/>
        </p:nvSpPr>
        <p:spPr>
          <a:xfrm>
            <a:off x="685800" y="2468880"/>
            <a:ext cx="10853928" cy="914400"/>
          </a:xfrm>
          <a:prstGeom prst="roundRect">
            <a:avLst>
              <a:gd name="adj" fmla="val 10000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9" name="pastille 2"/>
          <p:cNvSpPr/>
          <p:nvPr/>
        </p:nvSpPr>
        <p:spPr>
          <a:xfrm>
            <a:off x="960120" y="2642616"/>
            <a:ext cx="566928" cy="566928"/>
          </a:xfrm>
          <a:prstGeom prst="ellipse">
            <a:avLst/>
          </a:prstGeom>
          <a:solidFill>
            <a:srgbClr val="EA663B"/>
          </a:solidFill>
          <a:ln w="12700">
            <a:solidFill>
              <a:srgbClr val="EA66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5786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4C"/>
                </a:solidFill>
              </a:rPr>
              <a:t>bdd1 ne revient pas en réplique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57860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3"/>
                </a:solidFill>
              </a:rPr>
              <a:t>Script de retour en réplique avec pg_rewind, au lieu d'une reconstruction complète</a:t>
            </a:r>
            <a:endParaRPr lang="en-US" sz="1250" dirty="0"/>
          </a:p>
        </p:txBody>
      </p:sp>
      <p:sp>
        <p:nvSpPr>
          <p:cNvPr id="13" name="limite 2"/>
          <p:cNvSpPr/>
          <p:nvPr/>
        </p:nvSpPr>
        <p:spPr>
          <a:xfrm>
            <a:off x="685800" y="3566160"/>
            <a:ext cx="10853928" cy="914400"/>
          </a:xfrm>
          <a:prstGeom prst="roundRect">
            <a:avLst>
              <a:gd name="adj" fmla="val 10000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14" name="pastille 3"/>
          <p:cNvSpPr/>
          <p:nvPr/>
        </p:nvSpPr>
        <p:spPr>
          <a:xfrm>
            <a:off x="960120" y="3739896"/>
            <a:ext cx="566928" cy="566928"/>
          </a:xfrm>
          <a:prstGeom prst="ellipse">
            <a:avLst/>
          </a:prstGeom>
          <a:solidFill>
            <a:srgbClr val="EA663B"/>
          </a:solidFill>
          <a:ln w="12700">
            <a:solidFill>
              <a:srgbClr val="EA66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739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6758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4C"/>
                </a:solidFill>
              </a:rPr>
              <a:t>Une connexion à la base par requête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67588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3"/>
                </a:solidFill>
              </a:rPr>
              <a:t>Une réserve de connexions, qui lèverait la limite observée en charge</a:t>
            </a:r>
            <a:endParaRPr lang="en-US" sz="1250" dirty="0"/>
          </a:p>
        </p:txBody>
      </p:sp>
      <p:sp>
        <p:nvSpPr>
          <p:cNvPr id="18" name="limite 3"/>
          <p:cNvSpPr/>
          <p:nvPr/>
        </p:nvSpPr>
        <p:spPr>
          <a:xfrm>
            <a:off x="685800" y="4663440"/>
            <a:ext cx="10853928" cy="914400"/>
          </a:xfrm>
          <a:prstGeom prst="roundRect">
            <a:avLst>
              <a:gd name="adj" fmla="val 10000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19" name="pastille 4"/>
          <p:cNvSpPr/>
          <p:nvPr/>
        </p:nvSpPr>
        <p:spPr>
          <a:xfrm>
            <a:off x="960120" y="4837176"/>
            <a:ext cx="566928" cy="566928"/>
          </a:xfrm>
          <a:prstGeom prst="ellipse">
            <a:avLst/>
          </a:prstGeom>
          <a:solidFill>
            <a:srgbClr val="EA663B"/>
          </a:solidFill>
          <a:ln w="12700">
            <a:solidFill>
              <a:srgbClr val="EA66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837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47731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4C"/>
                </a:solidFill>
              </a:rPr>
              <a:t>Toutes les machines sur un seul hôte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477316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3"/>
                </a:solidFill>
              </a:rPr>
              <a:t>Répartir sur plusieurs machines physiques : les mesures de débit auraient alors un sens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883"/>
                </a:solidFill>
              </a:rPr>
              <a:t>Deux extensions sur quatre ont été réalisées : E1, le répartiteur redondant, et E2, l'observabilité. La priorité est allée au socle.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8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80160" y="2743200"/>
            <a:ext cx="960120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Démonstration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280160" y="393192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9BDCEC"/>
                </a:solidFill>
              </a:rPr>
              <a:t>Destruction, reconstruction en direct, puis trois scénarios tirés au sort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8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3B4C"/>
                </a:solidFill>
              </a:rPr>
              <a:t>Les six scénarios de validation</a:t>
            </a:r>
            <a:endParaRPr lang="en-US" sz="3200" dirty="0"/>
          </a:p>
        </p:txBody>
      </p:sp>
      <p:sp>
        <p:nvSpPr>
          <p:cNvPr id="3" name="scenario V1"/>
          <p:cNvSpPr/>
          <p:nvPr/>
        </p:nvSpPr>
        <p:spPr>
          <a:xfrm>
            <a:off x="685800" y="137160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4" name="pastille V1"/>
          <p:cNvSpPr/>
          <p:nvPr/>
        </p:nvSpPr>
        <p:spPr>
          <a:xfrm>
            <a:off x="960120" y="1700784"/>
            <a:ext cx="566928" cy="566928"/>
          </a:xfrm>
          <a:prstGeom prst="ellipse">
            <a:avLst/>
          </a:prstGeom>
          <a:solidFill>
            <a:srgbClr val="EA663B"/>
          </a:solidFill>
          <a:ln w="12700">
            <a:solidFill>
              <a:srgbClr val="EA66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709928" y="15727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4C"/>
                </a:solidFill>
              </a:rPr>
              <a:t>Répartition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09928" y="19476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Les N serveurs répondent tour à tour</a:t>
            </a:r>
            <a:endParaRPr lang="en-US" sz="1200" dirty="0"/>
          </a:p>
        </p:txBody>
      </p:sp>
      <p:sp>
        <p:nvSpPr>
          <p:cNvPr id="8" name="scenario V2"/>
          <p:cNvSpPr/>
          <p:nvPr/>
        </p:nvSpPr>
        <p:spPr>
          <a:xfrm>
            <a:off x="6227064" y="137160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9" name="pastille V2"/>
          <p:cNvSpPr/>
          <p:nvPr/>
        </p:nvSpPr>
        <p:spPr>
          <a:xfrm>
            <a:off x="6501384" y="1700784"/>
            <a:ext cx="566928" cy="566928"/>
          </a:xfrm>
          <a:prstGeom prst="ellipse">
            <a:avLst/>
          </a:prstGeom>
          <a:solidFill>
            <a:srgbClr val="42B5D9"/>
          </a:solidFill>
          <a:ln w="12700">
            <a:solidFill>
              <a:srgbClr val="42B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1384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251192" y="15727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4C"/>
                </a:solidFill>
              </a:rPr>
              <a:t>Panne d'un serveur applicatif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51192" y="19476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Le service continue, aucune erreur au-delà de 5 s</a:t>
            </a:r>
            <a:endParaRPr lang="en-US" sz="1200" dirty="0"/>
          </a:p>
        </p:txBody>
      </p:sp>
      <p:sp>
        <p:nvSpPr>
          <p:cNvPr id="13" name="scenario V3"/>
          <p:cNvSpPr/>
          <p:nvPr/>
        </p:nvSpPr>
        <p:spPr>
          <a:xfrm>
            <a:off x="685800" y="2852928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14" name="pastille V3"/>
          <p:cNvSpPr/>
          <p:nvPr/>
        </p:nvSpPr>
        <p:spPr>
          <a:xfrm>
            <a:off x="960120" y="3182112"/>
            <a:ext cx="566928" cy="566928"/>
          </a:xfrm>
          <a:prstGeom prst="ellipse">
            <a:avLst/>
          </a:prstGeom>
          <a:solidFill>
            <a:srgbClr val="EA663B"/>
          </a:solidFill>
          <a:ln w="12700">
            <a:solidFill>
              <a:srgbClr val="EA66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182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709928" y="30540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4C"/>
                </a:solidFill>
              </a:rPr>
              <a:t>Montée en charge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709928" y="34290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Débit à 2 puis 4 serveurs, commenté honnêtement</a:t>
            </a:r>
            <a:endParaRPr lang="en-US" sz="1200" dirty="0"/>
          </a:p>
        </p:txBody>
      </p:sp>
      <p:sp>
        <p:nvSpPr>
          <p:cNvPr id="18" name="scenario V4"/>
          <p:cNvSpPr/>
          <p:nvPr/>
        </p:nvSpPr>
        <p:spPr>
          <a:xfrm>
            <a:off x="6227064" y="2852928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19" name="pastille V4"/>
          <p:cNvSpPr/>
          <p:nvPr/>
        </p:nvSpPr>
        <p:spPr>
          <a:xfrm>
            <a:off x="6501384" y="3182112"/>
            <a:ext cx="566928" cy="566928"/>
          </a:xfrm>
          <a:prstGeom prst="ellipse">
            <a:avLst/>
          </a:prstGeom>
          <a:solidFill>
            <a:srgbClr val="42B5D9"/>
          </a:solidFill>
          <a:ln w="12700">
            <a:solidFill>
              <a:srgbClr val="42B5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01384" y="3182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251192" y="30540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4C"/>
                </a:solidFill>
              </a:rPr>
              <a:t>Panne de la base primaire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51192" y="34290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503 propre, puis bascule chronométrée sur bdd2</a:t>
            </a:r>
            <a:endParaRPr lang="en-US" sz="1200" dirty="0"/>
          </a:p>
        </p:txBody>
      </p:sp>
      <p:sp>
        <p:nvSpPr>
          <p:cNvPr id="23" name="scenario V5"/>
          <p:cNvSpPr/>
          <p:nvPr/>
        </p:nvSpPr>
        <p:spPr>
          <a:xfrm>
            <a:off x="685800" y="4334256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24" name="pastille V5"/>
          <p:cNvSpPr/>
          <p:nvPr/>
        </p:nvSpPr>
        <p:spPr>
          <a:xfrm>
            <a:off x="960120" y="4663440"/>
            <a:ext cx="566928" cy="566928"/>
          </a:xfrm>
          <a:prstGeom prst="ellipse">
            <a:avLst/>
          </a:prstGeom>
          <a:solidFill>
            <a:srgbClr val="EA663B"/>
          </a:solidFill>
          <a:ln w="12700">
            <a:solidFill>
              <a:srgbClr val="EA66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663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709928" y="45354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4C"/>
                </a:solidFill>
              </a:rPr>
              <a:t>Reconstruction intégrale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709928" y="49103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destroy puis up, sans aucune intervention</a:t>
            </a:r>
            <a:endParaRPr lang="en-US" sz="1200" dirty="0"/>
          </a:p>
        </p:txBody>
      </p:sp>
      <p:sp>
        <p:nvSpPr>
          <p:cNvPr id="28" name="scenario V6"/>
          <p:cNvSpPr/>
          <p:nvPr/>
        </p:nvSpPr>
        <p:spPr>
          <a:xfrm>
            <a:off x="6227064" y="4334256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1F8FB"/>
          </a:solidFill>
          <a:ln w="12700">
            <a:solidFill>
              <a:srgbClr val="F1F8FB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C">
                <a:alpha val="10000"/>
              </a:srgbClr>
            </a:outerShdw>
          </a:effectLst>
        </p:spPr>
      </p:sp>
      <p:sp>
        <p:nvSpPr>
          <p:cNvPr id="29" name="pastille V6"/>
          <p:cNvSpPr/>
          <p:nvPr/>
        </p:nvSpPr>
        <p:spPr>
          <a:xfrm>
            <a:off x="6501384" y="4663440"/>
            <a:ext cx="566928" cy="566928"/>
          </a:xfrm>
          <a:prstGeom prst="ellipse">
            <a:avLst/>
          </a:prstGeom>
          <a:solidFill>
            <a:srgbClr val="42B5D9"/>
          </a:solidFill>
          <a:ln w="12700">
            <a:solidFill>
              <a:srgbClr val="42B5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01384" y="4663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251192" y="45354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4C"/>
                </a:solidFill>
              </a:rPr>
              <a:t>Panne du répartiteur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251192" y="49103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</a:rPr>
              <a:t>lb2 reprend l'adresse virtuelle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870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883"/>
                </a:solidFill>
              </a:rPr>
              <a:t>Chaque scénario se lance par une seule commande et écrit sa sortie brute dans essais/resultats/.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8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Ce que nous retenons</a:t>
            </a:r>
            <a:endParaRPr lang="en-US" sz="4400" dirty="0"/>
          </a:p>
        </p:txBody>
      </p:sp>
      <p:sp>
        <p:nvSpPr>
          <p:cNvPr id="3" name="pastille 1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rgbClr val="EA663B"/>
          </a:solidFill>
          <a:ln w="12700">
            <a:solidFill>
              <a:srgbClr val="EA66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366674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Mesurer tôt, et comprendre chaque chiffre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72768" y="39959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DCEC"/>
                </a:solidFill>
              </a:rPr>
              <a:t>Les deux mesures les plus utiles du projet sont celles qui étaient fausses.</a:t>
            </a:r>
            <a:endParaRPr lang="en-US" sz="1250" dirty="0"/>
          </a:p>
        </p:txBody>
      </p:sp>
      <p:sp>
        <p:nvSpPr>
          <p:cNvPr id="7" name="pastille 2"/>
          <p:cNvSpPr/>
          <p:nvPr/>
        </p:nvSpPr>
        <p:spPr>
          <a:xfrm>
            <a:off x="822960" y="4572000"/>
            <a:ext cx="566928" cy="566928"/>
          </a:xfrm>
          <a:prstGeom prst="ellipse">
            <a:avLst/>
          </a:prstGeom>
          <a:solidFill>
            <a:srgbClr val="EA663B"/>
          </a:solidFill>
          <a:ln w="12700">
            <a:solidFill>
              <a:srgbClr val="EA66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72768" y="453542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Un provisionnement non idempotent ne se voit qu'au second passage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572768" y="48646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DCEC"/>
                </a:solidFill>
              </a:rPr>
              <a:t>Rejouer systématiquement a révélé plusieurs défauts invisibles au premier essai.</a:t>
            </a:r>
            <a:endParaRPr lang="en-US" sz="1250" dirty="0"/>
          </a:p>
        </p:txBody>
      </p:sp>
      <p:sp>
        <p:nvSpPr>
          <p:cNvPr id="11" name="pastille 3"/>
          <p:cNvSpPr/>
          <p:nvPr/>
        </p:nvSpPr>
        <p:spPr>
          <a:xfrm>
            <a:off x="822960" y="5440680"/>
            <a:ext cx="566928" cy="566928"/>
          </a:xfrm>
          <a:prstGeom prst="ellipse">
            <a:avLst/>
          </a:prstGeom>
          <a:solidFill>
            <a:srgbClr val="EA663B"/>
          </a:solidFill>
          <a:ln w="12700">
            <a:solidFill>
              <a:srgbClr val="EA66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440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540410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 reproductibilité se vérifie sur le poste d'un autre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57332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DCEC"/>
                </a:solidFill>
              </a:rPr>
              <a:t>Les erreurs les plus coûteuses n'apparaissaient pas sur le poste qui avait écrit le code.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B5D9"/>
                </a:solidFill>
              </a:rPr>
              <a:t>Merci de votre attention — nous répondons à vos questions.</a:t>
            </a:r>
            <a:endParaRPr lang="en-US" sz="1300" dirty="0"/>
          </a:p>
        </p:txBody>
      </p:sp>
      <p:sp>
        <p:nvSpPr>
          <p:cNvPr id="16" name="Text 0"/>
          <p:cNvSpPr/>
          <p:nvPr>
            <p:ph idx="101" type="body" hasCustomPrompt="1"/>
          </p:nvPr>
        </p:nvSpPr>
        <p:spPr>
          <a:xfrm>
            <a:off x="822960" y="37033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AM RESULTATS-BF">
  <a:themeElements>
    <a:clrScheme name="IBAM RESULTATS-BF">
      <a:dk1>
        <a:srgbClr val="1A2B33"/>
      </a:dk1>
      <a:lt1>
        <a:srgbClr val="FFFFFF"/>
      </a:lt1>
      <a:dk2>
        <a:srgbClr val="0F3B4C"/>
      </a:dk2>
      <a:lt2>
        <a:srgbClr val="F1F8FB"/>
      </a:lt2>
      <a:accent1>
        <a:srgbClr val="EA663B"/>
      </a:accent1>
      <a:accent2>
        <a:srgbClr val="42B5D9"/>
      </a:accent2>
      <a:accent3>
        <a:srgbClr val="0F3B4C"/>
      </a:accent3>
      <a:accent4>
        <a:srgbClr val="9BDCEC"/>
      </a:accent4>
      <a:accent5>
        <a:srgbClr val="F7B49B"/>
      </a:accent5>
      <a:accent6>
        <a:srgbClr val="5E7883"/>
      </a:accent6>
      <a:hlink>
        <a:srgbClr val="42B5D9"/>
      </a:hlink>
      <a:folHlink>
        <a:srgbClr val="9BDCEC"/>
      </a:folHlink>
    </a:clrScheme>
    <a:fontScheme name="IBAM RESULTATS-BF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RESULTATS-BF — soutenance</dc:title>
  <dc:subject>PptxGenJS Presentation</dc:subject>
  <dc:creator>Groupe 6 — M1 Informatique IBAM</dc:creator>
  <cp:lastModifiedBy>Groupe 6 — M1 Informatique IBAM</cp:lastModifiedBy>
  <cp:revision>1</cp:revision>
  <dcterms:created xsi:type="dcterms:W3CDTF">2026-10-26T11:14:21Z</dcterms:created>
  <dcterms:modified xsi:type="dcterms:W3CDTF">2026-10-26T11:14:21Z</dcterms:modified>
</cp:coreProperties>
</file>